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8963476" cy="743448"/>
          </a:xfrm>
        </p:spPr>
        <p:txBody>
          <a:bodyPr>
            <a:normAutofit/>
          </a:bodyPr>
          <a:lstStyle/>
          <a:p>
            <a:r>
              <a:rPr lang="en-GB" sz="3200" b="1" dirty="0">
                <a:latin typeface="Times New Roman" panose="02020603050405020304" pitchFamily="18" charset="0"/>
                <a:cs typeface="Times New Roman" panose="02020603050405020304" pitchFamily="18" charset="0"/>
              </a:rPr>
              <a:t>Project Title – Seasonal Agriculture Performance</a:t>
            </a:r>
            <a:endParaRPr lang="en-IN" sz="32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43769"/>
            <a:ext cx="577867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IN" b="1" dirty="0">
                <a:latin typeface="Times New Roman" panose="02020603050405020304" pitchFamily="18" charset="0"/>
                <a:cs typeface="Times New Roman" panose="02020603050405020304" pitchFamily="18" charset="0"/>
              </a:rPr>
              <a:t>STU69f3b04b2c5671777578059</a:t>
            </a:r>
            <a:endParaRPr lang="en-US" b="1"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B3B14219-CA80-9B56-9924-DE05B8D44522}"/>
              </a:ext>
            </a:extLst>
          </p:cNvPr>
          <p:cNvSpPr>
            <a:spLocks noGrp="1"/>
          </p:cNvSpPr>
          <p:nvPr>
            <p:ph type="body" sz="quarter" idx="11"/>
          </p:nvPr>
        </p:nvSpPr>
        <p:spPr>
          <a:xfrm>
            <a:off x="675957" y="3685235"/>
            <a:ext cx="7927341" cy="861497"/>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Student Name : Kalva Subba Meghana</a:t>
            </a:r>
          </a:p>
          <a:p>
            <a:r>
              <a:rPr lang="en-IN" dirty="0">
                <a:solidFill>
                  <a:schemeClr val="tx1"/>
                </a:solidFill>
                <a:latin typeface="Times New Roman" panose="02020603050405020304" pitchFamily="18" charset="0"/>
                <a:cs typeface="Times New Roman" panose="02020603050405020304" pitchFamily="18" charset="0"/>
              </a:rPr>
              <a:t>College Name : G. Narayanamma Institute of Technology and Science</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43840" y="1625006"/>
            <a:ext cx="7233920" cy="3607987"/>
          </a:xfrm>
        </p:spPr>
        <p:txBody>
          <a:bodyPr vert="horz" lIns="91440" tIns="45720" rIns="91440" bIns="45720" rtlCol="0" anchor="t">
            <a:noAutofit/>
          </a:bodyPr>
          <a:lstStyle/>
          <a:p>
            <a:pPr>
              <a:lnSpc>
                <a:spcPct val="100000"/>
              </a:lnSpc>
            </a:pPr>
            <a:r>
              <a:rPr lang="en-US" sz="24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309796CA-BD58-FDDE-3CD9-C07991EF88B8}"/>
              </a:ext>
            </a:extLst>
          </p:cNvPr>
          <p:cNvSpPr txBox="1"/>
          <p:nvPr/>
        </p:nvSpPr>
        <p:spPr>
          <a:xfrm>
            <a:off x="544712" y="1886146"/>
            <a:ext cx="8385927" cy="4524315"/>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Seasonal Agriculture Performance Analysis is a data analytics project that examines how agricultural performance varies across different seasons. The analysis uses information on crop production, environmental conditions, farming practices, resource usage, and economic outcomes to identify seasonal patterns, relationships, and variations.</a:t>
            </a:r>
          </a:p>
          <a:p>
            <a:pPr>
              <a:buNone/>
            </a:pPr>
            <a:r>
              <a:rPr lang="en-IN" sz="2400" dirty="0">
                <a:latin typeface="Times New Roman" panose="02020603050405020304" pitchFamily="18" charset="0"/>
                <a:cs typeface="Times New Roman" panose="02020603050405020304" pitchFamily="18" charset="0"/>
              </a:rPr>
              <a:t>The project compares yield, production, revenue, profit, water efficiency, environmental conditions, crops, regions, and resource usage across seasons. Statistical analysis and visualizations are used to identify significant observations and unusual patterns. The findings provide evidence-based insights and recommendations to support better seasonal agricultural planning and decision-making.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69F4DF30-2F64-5E4B-760A-05C878AEF09A}"/>
              </a:ext>
            </a:extLst>
          </p:cNvPr>
          <p:cNvSpPr txBox="1"/>
          <p:nvPr/>
        </p:nvSpPr>
        <p:spPr>
          <a:xfrm>
            <a:off x="620008" y="2195731"/>
            <a:ext cx="8097272" cy="3785652"/>
          </a:xfrm>
          <a:prstGeom prst="rect">
            <a:avLst/>
          </a:prstGeom>
          <a:noFill/>
        </p:spPr>
        <p:txBody>
          <a:bodyPr wrap="square">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Farmers</a:t>
            </a:r>
            <a:r>
              <a:rPr lang="en-IN" sz="2400" dirty="0">
                <a:latin typeface="Times New Roman" panose="02020603050405020304" pitchFamily="18" charset="0"/>
                <a:cs typeface="Times New Roman" panose="02020603050405020304" pitchFamily="18" charset="0"/>
              </a:rPr>
              <a:t> – to understand which seasons and farming practices give better yield and profitability.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Agricultural planners</a:t>
            </a:r>
            <a:r>
              <a:rPr lang="en-IN" sz="2400" dirty="0">
                <a:latin typeface="Times New Roman" panose="02020603050405020304" pitchFamily="18" charset="0"/>
                <a:cs typeface="Times New Roman" panose="02020603050405020304" pitchFamily="18" charset="0"/>
              </a:rPr>
              <a:t> – to plan crops, resources, and activities according to seasonal performance.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Government agricultural departments</a:t>
            </a:r>
            <a:r>
              <a:rPr lang="en-IN" sz="2400" dirty="0">
                <a:latin typeface="Times New Roman" panose="02020603050405020304" pitchFamily="18" charset="0"/>
                <a:cs typeface="Times New Roman" panose="02020603050405020304" pitchFamily="18" charset="0"/>
              </a:rPr>
              <a:t> – to support seasonal agricultural policies and resource allocation.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Agricultural analysts/researchers</a:t>
            </a:r>
            <a:r>
              <a:rPr lang="en-IN" sz="2400" dirty="0">
                <a:latin typeface="Times New Roman" panose="02020603050405020304" pitchFamily="18" charset="0"/>
                <a:cs typeface="Times New Roman" panose="02020603050405020304" pitchFamily="18" charset="0"/>
              </a:rPr>
              <a:t> – to study seasonal, environmental, and regional agricultural patterns.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Agribusinesses</a:t>
            </a:r>
            <a:r>
              <a:rPr lang="en-IN" sz="2400" dirty="0">
                <a:latin typeface="Times New Roman" panose="02020603050405020304" pitchFamily="18" charset="0"/>
                <a:cs typeface="Times New Roman" panose="02020603050405020304" pitchFamily="18" charset="0"/>
              </a:rPr>
              <a:t> – to make decisions related to production, resources, and market opportunities.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2A5D0FDE-179A-5AFA-9005-75889B30370E}"/>
              </a:ext>
            </a:extLst>
          </p:cNvPr>
          <p:cNvSpPr txBox="1"/>
          <p:nvPr/>
        </p:nvSpPr>
        <p:spPr>
          <a:xfrm>
            <a:off x="2320485" y="2058799"/>
            <a:ext cx="6814820" cy="3785652"/>
          </a:xfrm>
          <a:prstGeom prst="rect">
            <a:avLst/>
          </a:prstGeom>
          <a:noFill/>
        </p:spPr>
        <p:txBody>
          <a:bodyPr wrap="square">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Programming language for data analysis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Pandas</a:t>
            </a:r>
            <a:r>
              <a:rPr lang="en-IN" sz="2400" dirty="0">
                <a:latin typeface="Times New Roman" panose="02020603050405020304" pitchFamily="18" charset="0"/>
                <a:cs typeface="Times New Roman" panose="02020603050405020304" pitchFamily="18" charset="0"/>
              </a:rPr>
              <a:t> – Data loading, cleaning, manipulation, and analysis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NumPy</a:t>
            </a:r>
            <a:r>
              <a:rPr lang="en-IN" sz="2400" dirty="0">
                <a:latin typeface="Times New Roman" panose="02020603050405020304" pitchFamily="18" charset="0"/>
                <a:cs typeface="Times New Roman" panose="02020603050405020304" pitchFamily="18" charset="0"/>
              </a:rPr>
              <a:t> – Numerical calculations and statistical computations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Matplotlib</a:t>
            </a:r>
            <a:r>
              <a:rPr lang="en-IN" sz="2400" dirty="0">
                <a:latin typeface="Times New Roman" panose="02020603050405020304" pitchFamily="18" charset="0"/>
                <a:cs typeface="Times New Roman" panose="02020603050405020304" pitchFamily="18" charset="0"/>
              </a:rPr>
              <a:t> – Data visualization and charts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Seaborn</a:t>
            </a:r>
            <a:r>
              <a:rPr lang="en-IN" sz="2400" dirty="0">
                <a:latin typeface="Times New Roman" panose="02020603050405020304" pitchFamily="18" charset="0"/>
                <a:cs typeface="Times New Roman" panose="02020603050405020304" pitchFamily="18" charset="0"/>
              </a:rPr>
              <a:t> – Statistical visualizations such as heatmaps and boxplots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Google </a:t>
            </a:r>
            <a:r>
              <a:rPr lang="en-IN" sz="2400" b="1" dirty="0" err="1">
                <a:latin typeface="Times New Roman" panose="02020603050405020304" pitchFamily="18" charset="0"/>
                <a:cs typeface="Times New Roman" panose="02020603050405020304" pitchFamily="18" charset="0"/>
              </a:rPr>
              <a:t>Colab</a:t>
            </a:r>
            <a:r>
              <a:rPr lang="en-IN" sz="2400" b="1" dirty="0">
                <a:latin typeface="Times New Roman" panose="02020603050405020304" pitchFamily="18" charset="0"/>
                <a:cs typeface="Times New Roman" panose="02020603050405020304" pitchFamily="18" charset="0"/>
              </a:rPr>
              <a:t> / Jupyter Notebook</a:t>
            </a:r>
            <a:r>
              <a:rPr lang="en-IN" sz="2400" dirty="0">
                <a:latin typeface="Times New Roman" panose="02020603050405020304" pitchFamily="18" charset="0"/>
                <a:cs typeface="Times New Roman" panose="02020603050405020304" pitchFamily="18" charset="0"/>
              </a:rPr>
              <a:t> – Development and execution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14039" y="20567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CE78FFB-E167-A04E-96C5-4CF6E6AE0FD3}"/>
              </a:ext>
            </a:extLst>
          </p:cNvPr>
          <p:cNvPicPr>
            <a:picLocks noChangeAspect="1"/>
          </p:cNvPicPr>
          <p:nvPr/>
        </p:nvPicPr>
        <p:blipFill>
          <a:blip r:embed="rId3"/>
          <a:stretch>
            <a:fillRect/>
          </a:stretch>
        </p:blipFill>
        <p:spPr>
          <a:xfrm>
            <a:off x="200187" y="1144774"/>
            <a:ext cx="3691094" cy="2443189"/>
          </a:xfrm>
          <a:prstGeom prst="rect">
            <a:avLst/>
          </a:prstGeom>
        </p:spPr>
      </p:pic>
      <p:pic>
        <p:nvPicPr>
          <p:cNvPr id="9" name="Picture 8">
            <a:extLst>
              <a:ext uri="{FF2B5EF4-FFF2-40B4-BE49-F238E27FC236}">
                <a16:creationId xmlns:a16="http://schemas.microsoft.com/office/drawing/2014/main" id="{F1012AC5-D601-E757-0E6A-11E85E5C666D}"/>
              </a:ext>
            </a:extLst>
          </p:cNvPr>
          <p:cNvPicPr>
            <a:picLocks noChangeAspect="1"/>
          </p:cNvPicPr>
          <p:nvPr/>
        </p:nvPicPr>
        <p:blipFill>
          <a:blip r:embed="rId4"/>
          <a:stretch>
            <a:fillRect/>
          </a:stretch>
        </p:blipFill>
        <p:spPr>
          <a:xfrm>
            <a:off x="4151527" y="1144774"/>
            <a:ext cx="3951341" cy="2612363"/>
          </a:xfrm>
          <a:prstGeom prst="rect">
            <a:avLst/>
          </a:prstGeom>
        </p:spPr>
      </p:pic>
      <p:pic>
        <p:nvPicPr>
          <p:cNvPr id="11" name="Picture 10">
            <a:extLst>
              <a:ext uri="{FF2B5EF4-FFF2-40B4-BE49-F238E27FC236}">
                <a16:creationId xmlns:a16="http://schemas.microsoft.com/office/drawing/2014/main" id="{192B3A27-AB5E-812F-6DB6-9D0C8BF69439}"/>
              </a:ext>
            </a:extLst>
          </p:cNvPr>
          <p:cNvPicPr>
            <a:picLocks noChangeAspect="1"/>
          </p:cNvPicPr>
          <p:nvPr/>
        </p:nvPicPr>
        <p:blipFill>
          <a:blip r:embed="rId5"/>
          <a:srcRect b="2235"/>
          <a:stretch>
            <a:fillRect/>
          </a:stretch>
        </p:blipFill>
        <p:spPr>
          <a:xfrm>
            <a:off x="200186" y="3954946"/>
            <a:ext cx="3951341" cy="2408867"/>
          </a:xfrm>
          <a:prstGeom prst="rect">
            <a:avLst/>
          </a:prstGeom>
        </p:spPr>
      </p:pic>
      <p:pic>
        <p:nvPicPr>
          <p:cNvPr id="13" name="Picture 12">
            <a:extLst>
              <a:ext uri="{FF2B5EF4-FFF2-40B4-BE49-F238E27FC236}">
                <a16:creationId xmlns:a16="http://schemas.microsoft.com/office/drawing/2014/main" id="{3DB5A171-0525-328A-6ABC-C42A04EC7B48}"/>
              </a:ext>
            </a:extLst>
          </p:cNvPr>
          <p:cNvPicPr>
            <a:picLocks noChangeAspect="1"/>
          </p:cNvPicPr>
          <p:nvPr/>
        </p:nvPicPr>
        <p:blipFill>
          <a:blip r:embed="rId6"/>
          <a:srcRect l="974"/>
          <a:stretch>
            <a:fillRect/>
          </a:stretch>
        </p:blipFill>
        <p:spPr>
          <a:xfrm>
            <a:off x="8297036" y="1144774"/>
            <a:ext cx="3694778" cy="2346607"/>
          </a:xfrm>
          <a:prstGeom prst="rect">
            <a:avLst/>
          </a:prstGeom>
        </p:spPr>
      </p:pic>
      <p:pic>
        <p:nvPicPr>
          <p:cNvPr id="15" name="Picture 14">
            <a:extLst>
              <a:ext uri="{FF2B5EF4-FFF2-40B4-BE49-F238E27FC236}">
                <a16:creationId xmlns:a16="http://schemas.microsoft.com/office/drawing/2014/main" id="{738E3AD6-73B3-9C4A-3F56-60756DAE1077}"/>
              </a:ext>
            </a:extLst>
          </p:cNvPr>
          <p:cNvPicPr>
            <a:picLocks noChangeAspect="1"/>
          </p:cNvPicPr>
          <p:nvPr/>
        </p:nvPicPr>
        <p:blipFill>
          <a:blip r:embed="rId7"/>
          <a:stretch>
            <a:fillRect/>
          </a:stretch>
        </p:blipFill>
        <p:spPr>
          <a:xfrm>
            <a:off x="8297036" y="3954946"/>
            <a:ext cx="3694778" cy="2408867"/>
          </a:xfrm>
          <a:prstGeom prst="rect">
            <a:avLst/>
          </a:prstGeom>
        </p:spPr>
      </p:pic>
      <p:sp>
        <p:nvSpPr>
          <p:cNvPr id="17" name="TextBox 16">
            <a:extLst>
              <a:ext uri="{FF2B5EF4-FFF2-40B4-BE49-F238E27FC236}">
                <a16:creationId xmlns:a16="http://schemas.microsoft.com/office/drawing/2014/main" id="{E9D4A420-8EEC-7A4D-2E37-843030D51C78}"/>
              </a:ext>
            </a:extLst>
          </p:cNvPr>
          <p:cNvSpPr txBox="1"/>
          <p:nvPr/>
        </p:nvSpPr>
        <p:spPr>
          <a:xfrm>
            <a:off x="4442460" y="4235898"/>
            <a:ext cx="3776980" cy="147732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Kharif showed the strongest overall agricultural performance, while Zaid recorded the lowest performance and negative average profit.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A5157E6-B16F-A8A5-6CF5-28E6A196C820}"/>
              </a:ext>
            </a:extLst>
          </p:cNvPr>
          <p:cNvPicPr>
            <a:picLocks noChangeAspect="1"/>
          </p:cNvPicPr>
          <p:nvPr/>
        </p:nvPicPr>
        <p:blipFill>
          <a:blip r:embed="rId3"/>
          <a:stretch>
            <a:fillRect/>
          </a:stretch>
        </p:blipFill>
        <p:spPr>
          <a:xfrm>
            <a:off x="675957" y="1941448"/>
            <a:ext cx="4953255" cy="3433191"/>
          </a:xfrm>
          <a:prstGeom prst="rect">
            <a:avLst/>
          </a:prstGeom>
        </p:spPr>
      </p:pic>
      <p:sp>
        <p:nvSpPr>
          <p:cNvPr id="12" name="TextBox 11">
            <a:extLst>
              <a:ext uri="{FF2B5EF4-FFF2-40B4-BE49-F238E27FC236}">
                <a16:creationId xmlns:a16="http://schemas.microsoft.com/office/drawing/2014/main" id="{3E8BA755-F587-FE39-4958-5B0FB864157C}"/>
              </a:ext>
            </a:extLst>
          </p:cNvPr>
          <p:cNvSpPr txBox="1"/>
          <p:nvPr/>
        </p:nvSpPr>
        <p:spPr>
          <a:xfrm>
            <a:off x="5984187" y="3057878"/>
            <a:ext cx="6101080" cy="120032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Kharif received the highest average rainfall and also recorded the highest average crop yield. Rabi showed moderate rainfall and yield, while Zaid had the lowest values.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EBA8C45-1F87-1A4D-CA4F-2498A233ACA5}"/>
              </a:ext>
            </a:extLst>
          </p:cNvPr>
          <p:cNvPicPr>
            <a:picLocks noChangeAspect="1"/>
          </p:cNvPicPr>
          <p:nvPr/>
        </p:nvPicPr>
        <p:blipFill>
          <a:blip r:embed="rId3"/>
          <a:stretch>
            <a:fillRect/>
          </a:stretch>
        </p:blipFill>
        <p:spPr>
          <a:xfrm>
            <a:off x="556110" y="1854989"/>
            <a:ext cx="5816899" cy="3702240"/>
          </a:xfrm>
          <a:prstGeom prst="rect">
            <a:avLst/>
          </a:prstGeom>
        </p:spPr>
      </p:pic>
      <p:sp>
        <p:nvSpPr>
          <p:cNvPr id="12" name="TextBox 11">
            <a:extLst>
              <a:ext uri="{FF2B5EF4-FFF2-40B4-BE49-F238E27FC236}">
                <a16:creationId xmlns:a16="http://schemas.microsoft.com/office/drawing/2014/main" id="{6C4F3B49-3636-30DF-5DF7-53EAD55F2D44}"/>
              </a:ext>
            </a:extLst>
          </p:cNvPr>
          <p:cNvSpPr txBox="1"/>
          <p:nvPr/>
        </p:nvSpPr>
        <p:spPr>
          <a:xfrm>
            <a:off x="7128987" y="2690336"/>
            <a:ext cx="4506903" cy="147732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Yield varies across both states and seasons. Kharif generally shows strong performance, but some states perform better in Rabi or Zaid, indicating regional differences in seasonal productivity.</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EA56596-5F10-0093-3871-FE3437F17EF0}"/>
              </a:ext>
            </a:extLst>
          </p:cNvPr>
          <p:cNvPicPr>
            <a:picLocks noChangeAspect="1"/>
          </p:cNvPicPr>
          <p:nvPr/>
        </p:nvPicPr>
        <p:blipFill>
          <a:blip r:embed="rId3"/>
          <a:stretch>
            <a:fillRect/>
          </a:stretch>
        </p:blipFill>
        <p:spPr>
          <a:xfrm>
            <a:off x="675956" y="1880388"/>
            <a:ext cx="5602923" cy="3954605"/>
          </a:xfrm>
          <a:prstGeom prst="rect">
            <a:avLst/>
          </a:prstGeom>
        </p:spPr>
      </p:pic>
      <p:sp>
        <p:nvSpPr>
          <p:cNvPr id="12" name="TextBox 11">
            <a:extLst>
              <a:ext uri="{FF2B5EF4-FFF2-40B4-BE49-F238E27FC236}">
                <a16:creationId xmlns:a16="http://schemas.microsoft.com/office/drawing/2014/main" id="{EBC33461-22F0-D926-1E6D-5E8BF40889CD}"/>
              </a:ext>
            </a:extLst>
          </p:cNvPr>
          <p:cNvSpPr txBox="1"/>
          <p:nvPr/>
        </p:nvSpPr>
        <p:spPr>
          <a:xfrm>
            <a:off x="6474460" y="2960916"/>
            <a:ext cx="5494020" cy="1200329"/>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Irrigation method affects crop yield differently across seasons. Drip irrigation recorded the highest yield in Kharif (7.26), while sprinkler irrigation performed best in Zaid (6.14).</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29021C7-4666-35ED-0744-6D44F458B7EF}"/>
              </a:ext>
            </a:extLst>
          </p:cNvPr>
          <p:cNvPicPr>
            <a:picLocks noChangeAspect="1"/>
          </p:cNvPicPr>
          <p:nvPr/>
        </p:nvPicPr>
        <p:blipFill>
          <a:blip r:embed="rId3"/>
          <a:stretch>
            <a:fillRect/>
          </a:stretch>
        </p:blipFill>
        <p:spPr>
          <a:xfrm>
            <a:off x="330183" y="1339486"/>
            <a:ext cx="4007411" cy="2449833"/>
          </a:xfrm>
          <a:prstGeom prst="rect">
            <a:avLst/>
          </a:prstGeom>
        </p:spPr>
      </p:pic>
      <p:pic>
        <p:nvPicPr>
          <p:cNvPr id="12" name="Picture 11">
            <a:extLst>
              <a:ext uri="{FF2B5EF4-FFF2-40B4-BE49-F238E27FC236}">
                <a16:creationId xmlns:a16="http://schemas.microsoft.com/office/drawing/2014/main" id="{03A6BBBB-12BE-D21B-B83B-2B704F014512}"/>
              </a:ext>
            </a:extLst>
          </p:cNvPr>
          <p:cNvPicPr>
            <a:picLocks noChangeAspect="1"/>
          </p:cNvPicPr>
          <p:nvPr/>
        </p:nvPicPr>
        <p:blipFill>
          <a:blip r:embed="rId4"/>
          <a:stretch>
            <a:fillRect/>
          </a:stretch>
        </p:blipFill>
        <p:spPr>
          <a:xfrm>
            <a:off x="8184589" y="1419226"/>
            <a:ext cx="4007411" cy="2452372"/>
          </a:xfrm>
          <a:prstGeom prst="rect">
            <a:avLst/>
          </a:prstGeom>
        </p:spPr>
      </p:pic>
      <p:pic>
        <p:nvPicPr>
          <p:cNvPr id="14" name="Picture 13">
            <a:extLst>
              <a:ext uri="{FF2B5EF4-FFF2-40B4-BE49-F238E27FC236}">
                <a16:creationId xmlns:a16="http://schemas.microsoft.com/office/drawing/2014/main" id="{2B821C65-C382-62A4-67D4-0EDED3757575}"/>
              </a:ext>
            </a:extLst>
          </p:cNvPr>
          <p:cNvPicPr>
            <a:picLocks noChangeAspect="1"/>
          </p:cNvPicPr>
          <p:nvPr/>
        </p:nvPicPr>
        <p:blipFill>
          <a:blip r:embed="rId5"/>
          <a:stretch>
            <a:fillRect/>
          </a:stretch>
        </p:blipFill>
        <p:spPr>
          <a:xfrm>
            <a:off x="279563" y="4160068"/>
            <a:ext cx="4058031" cy="2452372"/>
          </a:xfrm>
          <a:prstGeom prst="rect">
            <a:avLst/>
          </a:prstGeom>
        </p:spPr>
      </p:pic>
      <p:pic>
        <p:nvPicPr>
          <p:cNvPr id="16" name="Picture 15">
            <a:extLst>
              <a:ext uri="{FF2B5EF4-FFF2-40B4-BE49-F238E27FC236}">
                <a16:creationId xmlns:a16="http://schemas.microsoft.com/office/drawing/2014/main" id="{DDD43EF4-268B-5E5C-AD33-33D7C7E442B3}"/>
              </a:ext>
            </a:extLst>
          </p:cNvPr>
          <p:cNvPicPr>
            <a:picLocks noChangeAspect="1"/>
          </p:cNvPicPr>
          <p:nvPr/>
        </p:nvPicPr>
        <p:blipFill>
          <a:blip r:embed="rId6"/>
          <a:stretch>
            <a:fillRect/>
          </a:stretch>
        </p:blipFill>
        <p:spPr>
          <a:xfrm>
            <a:off x="8184589" y="4212588"/>
            <a:ext cx="3987637" cy="2452372"/>
          </a:xfrm>
          <a:prstGeom prst="rect">
            <a:avLst/>
          </a:prstGeom>
        </p:spPr>
      </p:pic>
      <p:sp>
        <p:nvSpPr>
          <p:cNvPr id="18" name="TextBox 17">
            <a:extLst>
              <a:ext uri="{FF2B5EF4-FFF2-40B4-BE49-F238E27FC236}">
                <a16:creationId xmlns:a16="http://schemas.microsoft.com/office/drawing/2014/main" id="{5386AD69-1AD6-20A3-E86D-06A555C158AB}"/>
              </a:ext>
            </a:extLst>
          </p:cNvPr>
          <p:cNvSpPr txBox="1"/>
          <p:nvPr/>
        </p:nvSpPr>
        <p:spPr>
          <a:xfrm>
            <a:off x="4345694" y="3112410"/>
            <a:ext cx="3917389" cy="175432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The boxplots show several extreme observations in crop yield, profit, water usage, and production. These variations indicate that agricultural performance can differ substantially between farms.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1DCCC34D-1272-63D1-0CED-AB7611D53D01}"/>
              </a:ext>
            </a:extLst>
          </p:cNvPr>
          <p:cNvSpPr txBox="1"/>
          <p:nvPr/>
        </p:nvSpPr>
        <p:spPr>
          <a:xfrm>
            <a:off x="551613" y="1290902"/>
            <a:ext cx="8034020" cy="5262979"/>
          </a:xfrm>
          <a:prstGeom prst="rect">
            <a:avLst/>
          </a:prstGeom>
          <a:noFill/>
        </p:spPr>
        <p:txBody>
          <a:bodyPr wrap="square">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Predictive Modelling</a:t>
            </a:r>
            <a:r>
              <a:rPr lang="en-IN" sz="2400" dirty="0">
                <a:latin typeface="Times New Roman" panose="02020603050405020304" pitchFamily="18" charset="0"/>
                <a:cs typeface="Times New Roman" panose="02020603050405020304" pitchFamily="18" charset="0"/>
              </a:rPr>
              <a:t> – Predict future crop yield and agricultural performance for different seasons.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Weather-Based Prediction</a:t>
            </a:r>
            <a:r>
              <a:rPr lang="en-IN" sz="2400" dirty="0">
                <a:latin typeface="Times New Roman" panose="02020603050405020304" pitchFamily="18" charset="0"/>
                <a:cs typeface="Times New Roman" panose="02020603050405020304" pitchFamily="18" charset="0"/>
              </a:rPr>
              <a:t> – Use weather conditions such as rainfall and temperature to improve seasonal predictions.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Resource Optimization</a:t>
            </a:r>
            <a:r>
              <a:rPr lang="en-IN" sz="2400" dirty="0">
                <a:latin typeface="Times New Roman" panose="02020603050405020304" pitchFamily="18" charset="0"/>
                <a:cs typeface="Times New Roman" panose="02020603050405020304" pitchFamily="18" charset="0"/>
              </a:rPr>
              <a:t> – Recommend efficient irrigation, fertilizer, and water usage.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Crop Recommendation</a:t>
            </a:r>
            <a:r>
              <a:rPr lang="en-IN" sz="2400" dirty="0">
                <a:latin typeface="Times New Roman" panose="02020603050405020304" pitchFamily="18" charset="0"/>
                <a:cs typeface="Times New Roman" panose="02020603050405020304" pitchFamily="18" charset="0"/>
              </a:rPr>
              <a:t> – Suggest suitable crops based on seasonal and regional conditions.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Larger Datasets</a:t>
            </a:r>
            <a:r>
              <a:rPr lang="en-IN" sz="2400" dirty="0">
                <a:latin typeface="Times New Roman" panose="02020603050405020304" pitchFamily="18" charset="0"/>
                <a:cs typeface="Times New Roman" panose="02020603050405020304" pitchFamily="18" charset="0"/>
              </a:rPr>
              <a:t> – Include more regions, seasons, crops, and historical data for more reliable analysis.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Real-Time Monitoring</a:t>
            </a:r>
            <a:r>
              <a:rPr lang="en-IN" sz="2400" dirty="0">
                <a:latin typeface="Times New Roman" panose="02020603050405020304" pitchFamily="18" charset="0"/>
                <a:cs typeface="Times New Roman" panose="02020603050405020304" pitchFamily="18" charset="0"/>
              </a:rPr>
              <a:t> – Integrate IoT or real-time environmental data for continuous agricultural monitoring.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Interactive Dashboard</a:t>
            </a:r>
            <a:r>
              <a:rPr lang="en-IN" sz="2400" dirty="0">
                <a:latin typeface="Times New Roman" panose="02020603050405020304" pitchFamily="18" charset="0"/>
                <a:cs typeface="Times New Roman" panose="02020603050405020304" pitchFamily="18" charset="0"/>
              </a:rPr>
              <a:t> – Develop a dashboard to help farmers and planners easily monitor seasonal performance.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518C4AB8-4B03-B71D-0641-27F480E2C73C}"/>
              </a:ext>
            </a:extLst>
          </p:cNvPr>
          <p:cNvSpPr txBox="1"/>
          <p:nvPr/>
        </p:nvSpPr>
        <p:spPr>
          <a:xfrm>
            <a:off x="1542065" y="3237188"/>
            <a:ext cx="7739380" cy="646331"/>
          </a:xfrm>
          <a:prstGeom prst="rect">
            <a:avLst/>
          </a:prstGeom>
          <a:noFill/>
        </p:spPr>
        <p:txBody>
          <a:bodyPr wrap="square">
            <a:spAutoFit/>
          </a:bodyPr>
          <a:lstStyle/>
          <a:p>
            <a:r>
              <a:rPr lang="en-IN" dirty="0"/>
              <a:t>https://github.com/kalvameghana2006-tech/Seasonal-Agriculture-Performance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0FB977E8-FAA8-254D-1770-F7DCC4AE9548}"/>
              </a:ext>
            </a:extLst>
          </p:cNvPr>
          <p:cNvGraphicFramePr>
            <a:graphicFrameLocks noChangeAspect="1"/>
          </p:cNvGraphicFramePr>
          <p:nvPr>
            <p:extLst>
              <p:ext uri="{D42A27DB-BD31-4B8C-83A1-F6EECF244321}">
                <p14:modId xmlns:p14="http://schemas.microsoft.com/office/powerpoint/2010/main" val="2697294252"/>
              </p:ext>
            </p:extLst>
          </p:nvPr>
        </p:nvGraphicFramePr>
        <p:xfrm>
          <a:off x="1423035" y="2185035"/>
          <a:ext cx="5346700" cy="3778250"/>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0" name=""/>
                      <p:cNvPicPr/>
                      <p:nvPr/>
                    </p:nvPicPr>
                    <p:blipFill>
                      <a:blip r:embed="rId4"/>
                      <a:stretch>
                        <a:fillRect/>
                      </a:stretch>
                    </p:blipFill>
                    <p:spPr>
                      <a:xfrm>
                        <a:off x="1423035" y="2185035"/>
                        <a:ext cx="5346700" cy="3778250"/>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32194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1388</TotalTime>
  <Words>640</Words>
  <Application>Microsoft Office PowerPoint</Application>
  <PresentationFormat>Widescreen</PresentationFormat>
  <Paragraphs>47</Paragraphs>
  <Slides>14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Times New Roman</vt:lpstr>
      <vt:lpstr>Trebuchet MS</vt:lpstr>
      <vt:lpstr>Wingdings</vt:lpstr>
      <vt:lpstr>Wingdings 3</vt:lpstr>
      <vt:lpstr>Facet</vt:lpstr>
      <vt:lpstr>Adobe Acrobat Document</vt:lpstr>
      <vt:lpstr>Project Title – Seasonal Agriculture Performance</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Kalva Meghana</cp:lastModifiedBy>
  <cp:revision>100</cp:revision>
  <dcterms:created xsi:type="dcterms:W3CDTF">2021-07-11T13:13:15Z</dcterms:created>
  <dcterms:modified xsi:type="dcterms:W3CDTF">2026-09-07T20:16:55Z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